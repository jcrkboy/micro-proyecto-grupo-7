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819" y="285750"/>
            <a:ext cx="550158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52500"/>
            <a:ext cx="2064246" cy="2543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590925"/>
            <a:ext cx="2064246" cy="2543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8096" y="952500"/>
            <a:ext cx="2064394" cy="2543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8096" y="3590925"/>
            <a:ext cx="2064394" cy="2543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7741" y="952500"/>
            <a:ext cx="2408336" cy="5181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1327" y="952500"/>
            <a:ext cx="2408336" cy="2543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1327" y="3590925"/>
            <a:ext cx="2408336" cy="2543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4914" y="952500"/>
            <a:ext cx="2408336" cy="2543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6229350"/>
            <a:ext cx="11734651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54914" y="3590925"/>
            <a:ext cx="2408336" cy="58697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54914" y="4254103"/>
            <a:ext cx="2408336" cy="58697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7571" y="1057275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7571" y="3695700"/>
            <a:ext cx="17145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57216" y="1057275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57216" y="3695700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60802" y="1057275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4389" y="1057275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64389" y="3695700"/>
            <a:ext cx="17145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67976" y="1057275"/>
            <a:ext cx="17145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38776" y="6238875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715601" y="3657600"/>
            <a:ext cx="1428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715601" y="4320778"/>
            <a:ext cx="142875" cy="1428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400" y="228600"/>
            <a:ext cx="5928419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MLOps Stack Canvas </a:t>
            </a:r>
            <a:r>
              <a:rPr b="1" sz="1650" i="0" u="none">
                <a:solidFill>
                  <a:srgbClr val="2563EB"/>
                </a:solidFill>
                <a:latin typeface="Inter"/>
              </a:rPr>
              <a:t>v1.0</a:t>
            </a:r>
            <a:r>
              <a:rPr b="1" sz="1650" i="0" u="none">
                <a:solidFill>
                  <a:srgbClr val="0F172A"/>
                </a:solidFill>
                <a:latin typeface="Inter"/>
              </a:rPr>
              <a:t> </a:t>
            </a:r>
            <a:r>
              <a:rPr b="0" sz="1650" i="0" u="none">
                <a:solidFill>
                  <a:srgbClr val="64748B"/>
                </a:solidFill>
                <a:latin typeface="Inter"/>
              </a:rPr>
              <a:t>| Sleep-EDFx: Clasificación Automática de Estadios del Sueño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8600" y="371475"/>
            <a:ext cx="20955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6119" y="342900"/>
            <a:ext cx="381178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Inter"/>
              </a:rPr>
              <a:t>Proyecto:</a:t>
            </a:r>
            <a:r>
              <a:rPr b="0" sz="825" i="0" u="none">
                <a:solidFill>
                  <a:srgbClr val="475569"/>
                </a:solidFill>
                <a:latin typeface="Inter"/>
              </a:rPr>
              <a:t> Grupo 7 (Juan Carlos Gamboa, Jhoan Saavedra, Juan Rozo, Juan Valera)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78405" y="342900"/>
            <a:ext cx="127054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Inter"/>
              </a:rPr>
              <a:t>Base:</a:t>
            </a:r>
            <a:r>
              <a:rPr b="0" sz="825" i="0" u="none">
                <a:solidFill>
                  <a:srgbClr val="475569"/>
                </a:solidFill>
                <a:latin typeface="Inter"/>
              </a:rPr>
              <a:t> PhysioNet Sleep-EDF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425" y="1428750"/>
            <a:ext cx="1816596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334155"/>
                </a:solidFill>
                <a:latin typeface="Inter"/>
              </a:rPr>
              <a:t>• </a:t>
            </a:r>
            <a:r>
              <a:rPr b="1" sz="750" i="0" u="none">
                <a:solidFill>
                  <a:srgbClr val="334155"/>
                </a:solidFill>
                <a:latin typeface="Inter"/>
              </a:rPr>
              <a:t>EDA: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Series multivariadas (EEG Fpz-Cz, Pz-Oz, EOG, EMG) a 100 Hz.</a:t>
            </a:r>
            <a:r>
              <a:t>
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• Segmentación estricta en épocas de 30 segundos con hipnogramas etiquetados.</a:t>
            </a:r>
            <a:r>
              <a:t>
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• </a:t>
            </a:r>
            <a:r>
              <a:rPr b="1" sz="750" i="0" u="none">
                <a:solidFill>
                  <a:srgbClr val="334155"/>
                </a:solidFill>
                <a:latin typeface="Inter"/>
              </a:rPr>
              <a:t>Tracking: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Registro de scripts de limpieza y normalización mediante </a:t>
            </a:r>
            <a:r>
              <a:rPr b="0" sz="750" i="1" u="none">
                <a:solidFill>
                  <a:srgbClr val="334155"/>
                </a:solidFill>
                <a:latin typeface="Inter"/>
              </a:rPr>
              <a:t>MLflow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425" y="4067175"/>
            <a:ext cx="1816596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12" i="1" u="none">
                <a:solidFill>
                  <a:srgbClr val="64748B"/>
                </a:solidFill>
                <a:latin typeface="Inter"/>
              </a:rPr>
              <a:t> Keep feature computation consistent along the ML lifecycle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425" y="4314825"/>
            <a:ext cx="1816596" cy="900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334155"/>
                </a:solidFill>
                <a:latin typeface="Inter"/>
              </a:rPr>
              <a:t>• Flujos estandarizados de extracción de características espectrales y estadísticas.</a:t>
            </a:r>
            <a:r>
              <a:t>
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• Generación de tensores de entrada directa para arquitecturas profundas.</a:t>
            </a:r>
            <a:r>
              <a:t>
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• Consistencia garantizada entre fases de desarrollo y producción.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1921" y="1428750"/>
            <a:ext cx="1816744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334155"/>
                </a:solidFill>
                <a:latin typeface="Inter"/>
              </a:rPr>
              <a:t>• </a:t>
            </a:r>
            <a:r>
              <a:rPr b="1" sz="750" i="0" u="none">
                <a:solidFill>
                  <a:srgbClr val="334155"/>
                </a:solidFill>
                <a:latin typeface="Inter"/>
              </a:rPr>
              <a:t>Fuentes: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Sleep-EDF Expanded (197 registros PSG de noche completa).</a:t>
            </a:r>
            <a:r>
              <a:t>
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• </a:t>
            </a:r>
            <a:r>
              <a:rPr b="1" sz="750" i="0" u="none">
                <a:solidFill>
                  <a:srgbClr val="334155"/>
                </a:solidFill>
                <a:latin typeface="Inter"/>
              </a:rPr>
              <a:t>Versionamiento: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Almacenamiento en Amazon S3 gestionado con </a:t>
            </a:r>
            <a:r>
              <a:rPr b="0" sz="750" i="1" u="none">
                <a:solidFill>
                  <a:srgbClr val="334155"/>
                </a:solidFill>
                <a:latin typeface="Inter"/>
              </a:rPr>
              <a:t>DVC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vinculado a Git.</a:t>
            </a:r>
            <a:r>
              <a:t>
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• </a:t>
            </a:r>
            <a:r>
              <a:rPr b="1" sz="750" i="0" u="none">
                <a:solidFill>
                  <a:srgbClr val="334155"/>
                </a:solidFill>
                <a:latin typeface="Inter"/>
              </a:rPr>
              <a:t>Etiquetado: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Basado en manual R&amp;K (W, N1, N2, N3, REM, M, ?). Hashes para evitar data leakage por sujeto.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1921" y="3971925"/>
            <a:ext cx="1816744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12" i="1" u="none">
                <a:solidFill>
                  <a:srgbClr val="64748B"/>
                </a:solidFill>
                <a:latin typeface="Inter"/>
              </a:rPr>
              <a:t> Reflecting DevOps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1921" y="4114800"/>
            <a:ext cx="1816744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334155"/>
                </a:solidFill>
                <a:latin typeface="Inter"/>
              </a:rPr>
              <a:t>• Configuración de repositorios Git para control estricto de código.</a:t>
            </a:r>
            <a:r>
              <a:t>
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• Estandarización de entornos mediante contenedores.</a:t>
            </a:r>
            <a:r>
              <a:t>
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• Paridad operativa total entre entornos locales y de despliegue.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1566" y="1333500"/>
            <a:ext cx="2160686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12" i="1" u="none">
                <a:solidFill>
                  <a:srgbClr val="64748B"/>
                </a:solidFill>
                <a:latin typeface="Inter"/>
              </a:rPr>
              <a:t> Keep solving the real problem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1566" y="1476375"/>
            <a:ext cx="2160686" cy="1830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61"/>
              </a:lnSpc>
            </a:pPr>
            <a:r>
              <a:rPr b="1" sz="712" i="0" u="none">
                <a:solidFill>
                  <a:srgbClr val="334155"/>
                </a:solidFill>
                <a:latin typeface="Inter"/>
              </a:rPr>
              <a:t>Solución:</a:t>
            </a:r>
            <a:r>
              <a:rPr b="0" sz="712" i="0" u="none">
                <a:solidFill>
                  <a:srgbClr val="334155"/>
                </a:solidFill>
                <a:latin typeface="Inter"/>
              </a:rPr>
              <a:t> Plataforma automatizada que entrega hipnograma preliminar, puntajes de probabilidad y visor interactivo (Human-in-the-Loop) para validación clínica.</a:t>
            </a:r>
            <a:r>
              <a:t>
</a:t>
            </a:r>
            <a:r>
              <a:t>
</a:t>
            </a:r>
            <a:r>
              <a:rPr b="1" sz="712" i="0" u="none">
                <a:solidFill>
                  <a:srgbClr val="334155"/>
                </a:solidFill>
                <a:latin typeface="Inter"/>
              </a:rPr>
              <a:t>Problema:</a:t>
            </a:r>
            <a:r>
              <a:rPr b="0" sz="712" i="0" u="none">
                <a:solidFill>
                  <a:srgbClr val="334155"/>
                </a:solidFill>
                <a:latin typeface="Inter"/>
              </a:rPr>
              <a:t> Estadificación manual lenta (800-1200 épocas/paciente), costosa y propensa a fatiga y variabilidad interevaluador.</a:t>
            </a:r>
            <a:r>
              <a:t>
</a:t>
            </a:r>
            <a:r>
              <a:t>
</a:t>
            </a:r>
            <a:r>
              <a:rPr b="1" sz="712" i="0" u="none">
                <a:solidFill>
                  <a:srgbClr val="334155"/>
                </a:solidFill>
                <a:latin typeface="Inter"/>
              </a:rPr>
              <a:t>Impacto:</a:t>
            </a:r>
            <a:r>
              <a:rPr b="0" sz="712" i="0" u="none">
                <a:solidFill>
                  <a:srgbClr val="334155"/>
                </a:solidFill>
                <a:latin typeface="Inter"/>
              </a:rPr>
              <a:t> Escala la capacidad diagnóstica ante escasez de especialistas reduciendo tiempos de entrega.</a:t>
            </a:r>
            <a:r>
              <a:t>
</a:t>
            </a:r>
            <a:r>
              <a:t>
</a:t>
            </a:r>
            <a:r>
              <a:rPr b="1" sz="712" i="0" u="none">
                <a:solidFill>
                  <a:srgbClr val="334155"/>
                </a:solidFill>
                <a:latin typeface="Inter"/>
              </a:rPr>
              <a:t>Dueños:</a:t>
            </a:r>
            <a:r>
              <a:rPr b="0" sz="712" i="0" u="none">
                <a:solidFill>
                  <a:srgbClr val="334155"/>
                </a:solidFill>
                <a:latin typeface="Inter"/>
              </a:rPr>
              <a:t> Equipo de Ciencia de Datos (Grupo 7) con supervisión clínica institucional.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5152" y="1428750"/>
            <a:ext cx="2160686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12" i="1" u="none">
                <a:solidFill>
                  <a:srgbClr val="64748B"/>
                </a:solidFill>
                <a:latin typeface="Inter"/>
              </a:rPr>
              <a:t> Building, testing, packaging and deploying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5152" y="1571625"/>
            <a:ext cx="2160686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334155"/>
                </a:solidFill>
                <a:latin typeface="Inter"/>
              </a:rPr>
              <a:t>• </a:t>
            </a:r>
            <a:r>
              <a:rPr b="1" sz="750" i="0" u="none">
                <a:solidFill>
                  <a:srgbClr val="334155"/>
                </a:solidFill>
                <a:latin typeface="Inter"/>
              </a:rPr>
              <a:t>Enrutamiento Inteligente: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Módulo de ML inspector de señales de entrada (EEG, EOG, EMG).</a:t>
            </a:r>
            <a:r>
              <a:t>
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• Orquestación dinámica hacia submodelos específicos según disponibilidad de canales de la petición.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5152" y="3971925"/>
            <a:ext cx="2160686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334155"/>
                </a:solidFill>
                <a:latin typeface="Inter"/>
              </a:rPr>
              <a:t>• </a:t>
            </a:r>
            <a:r>
              <a:rPr b="1" sz="750" i="0" u="none">
                <a:solidFill>
                  <a:srgbClr val="334155"/>
                </a:solidFill>
                <a:latin typeface="Inter"/>
              </a:rPr>
              <a:t>Data Drift: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Monitoreo continuo del comportamiento de señales y precisión del clasificador de entradas.</a:t>
            </a:r>
            <a:r>
              <a:t>
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• Control de estabilidad y latencia de inferencia en arquitectura modular.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8739" y="1333500"/>
            <a:ext cx="2160686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334155"/>
                </a:solidFill>
                <a:latin typeface="Inter"/>
              </a:rPr>
              <a:t>• Enfoque modular en </a:t>
            </a:r>
            <a:r>
              <a:rPr b="0" sz="750" i="1" u="none">
                <a:solidFill>
                  <a:srgbClr val="334155"/>
                </a:solidFill>
                <a:latin typeface="Inter"/>
              </a:rPr>
              <a:t>MLflow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(Detector de señales, modelo base EEG, submodelos EOG/EMG).</a:t>
            </a:r>
            <a:r>
              <a:t>
</a:t>
            </a:r>
            <a:r>
              <a:rPr b="0" sz="750" i="0" u="none">
                <a:solidFill>
                  <a:srgbClr val="334155"/>
                </a:solidFill>
                <a:latin typeface="Inter"/>
              </a:rPr>
              <a:t> • Métrica principal: F1-score macro (protege clases minoritarias como N1).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76351" y="6485185"/>
            <a:ext cx="7239000" cy="1346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61"/>
              </a:lnSpc>
            </a:pPr>
            <a:r>
              <a:rPr b="0" sz="712" i="0" u="none">
                <a:solidFill>
                  <a:srgbClr val="334155"/>
                </a:solidFill>
                <a:latin typeface="Inter"/>
              </a:rPr>
              <a:t>Trazabilidad centralizada unificando ejecuciones en </a:t>
            </a:r>
            <a:r>
              <a:rPr b="1" sz="712" i="0" u="none">
                <a:solidFill>
                  <a:srgbClr val="334155"/>
                </a:solidFill>
                <a:latin typeface="Inter"/>
              </a:rPr>
              <a:t>MLflow</a:t>
            </a:r>
            <a:r>
              <a:rPr b="0" sz="712" i="0" u="none">
                <a:solidFill>
                  <a:srgbClr val="334155"/>
                </a:solidFill>
                <a:latin typeface="Inter"/>
              </a:rPr>
              <a:t>, versiones en </a:t>
            </a:r>
            <a:r>
              <a:rPr b="1" sz="712" i="0" u="none">
                <a:solidFill>
                  <a:srgbClr val="334155"/>
                </a:solidFill>
                <a:latin typeface="Inter"/>
              </a:rPr>
              <a:t>DVC</a:t>
            </a:r>
            <a:r>
              <a:rPr b="0" sz="712" i="0" u="none">
                <a:solidFill>
                  <a:srgbClr val="334155"/>
                </a:solidFill>
                <a:latin typeface="Inter"/>
              </a:rPr>
              <a:t>, registros del clasificador y bitácoras de auditoría de la API.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425" y="1057275"/>
            <a:ext cx="164514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Inter"/>
              </a:rPr>
              <a:t>DATA ANALYSIS &amp; EXPERIMENT MANAGEMENT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425" y="3695700"/>
            <a:ext cx="164514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Inter"/>
              </a:rPr>
              <a:t>FEATURE STORE &amp; WORKFLOWS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1921" y="1057275"/>
            <a:ext cx="164529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Inter"/>
              </a:rPr>
              <a:t>DATA SOURCES &amp; DATA VERSIONING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1921" y="3695700"/>
            <a:ext cx="7953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Inter"/>
              </a:rPr>
              <a:t>FOUNDATIONS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1566" y="1057275"/>
            <a:ext cx="114776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A3412"/>
                </a:solidFill>
                <a:latin typeface="Inter"/>
              </a:rPr>
              <a:t>VALUE PROPOSITION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5152" y="1057275"/>
            <a:ext cx="198923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Inter"/>
              </a:rPr>
              <a:t>CI/CT/CD: ML PIPELINE ORCHESTRATION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5152" y="3695700"/>
            <a:ext cx="19383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Inter"/>
              </a:rPr>
              <a:t>MODEL &amp; DATA &amp; APP MONITORING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78739" y="1057275"/>
            <a:ext cx="180498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Inter"/>
              </a:rPr>
              <a:t>MODEL REGISTRY &amp; VERSIONING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59689" y="3867150"/>
            <a:ext cx="2198786" cy="244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61"/>
              </a:lnSpc>
            </a:pPr>
            <a:r>
              <a:rPr b="0" sz="712" i="0" u="none">
                <a:solidFill>
                  <a:srgbClr val="334155"/>
                </a:solidFill>
                <a:latin typeface="Inter"/>
              </a:rPr>
              <a:t>• Contenedores Docker integrados para motor de detección, submodelos y API.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9689" y="4530328"/>
            <a:ext cx="2198786" cy="244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61"/>
              </a:lnSpc>
            </a:pPr>
            <a:r>
              <a:rPr b="0" sz="712" i="0" u="none">
                <a:solidFill>
                  <a:srgbClr val="334155"/>
                </a:solidFill>
                <a:latin typeface="Inter"/>
              </a:rPr>
              <a:t>• API orquestadora inteligente y Dashboard (hipnograma, alertas de ruido M/? y visor crudo).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00526" y="6253162"/>
            <a:ext cx="1143000" cy="123825"/>
          </a:xfrm>
          <a:prstGeom prst="rect">
            <a:avLst/>
          </a:prstGeom>
          <a:noFill/>
        </p:spPr>
        <p:txBody>
          <a:bodyPr wrap="square" lIns="138112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0F172A"/>
                </a:solidFill>
                <a:latin typeface="Inter"/>
              </a:rPr>
              <a:t>METADATA STORE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77126" y="6485185"/>
            <a:ext cx="1038225" cy="13468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659689" y="3657600"/>
            <a:ext cx="11049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E293B"/>
                </a:solidFill>
                <a:latin typeface="Inter"/>
              </a:rPr>
              <a:t>MODEL DEPLOYMENT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9689" y="4320778"/>
            <a:ext cx="11334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E293B"/>
                </a:solidFill>
                <a:latin typeface="Inter"/>
              </a:rPr>
              <a:t>PREDICTION SERVING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00526" y="6272212"/>
            <a:ext cx="90487" cy="1000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